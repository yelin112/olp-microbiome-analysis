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4" Type="http://schemas.openxmlformats.org/officeDocument/2006/relationships/extended-properties" Target="docProps/app.xml"/>
<Relationship Id="rId1" Type="http://schemas.openxmlformats.org/officeDocument/2006/relationships/officeDocument" Target="ppt/presentation.xml"/>
<Relationship Id="rId2" Type="http://schemas.openxmlformats.org/package/2006/relationships/metadata/thumbnail" Target="docProps/thumbnail.jpeg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tags" Target="tags/tag1.xml"/>
<Relationship Id="rId4" Type="http://schemas.openxmlformats.org/officeDocument/2006/relationships/presProps" Target="presProps.xml"/>
<Relationship Id="rId5" Type="http://schemas.openxmlformats.org/officeDocument/2006/relationships/viewProps" Target="viewProps.xml"/>
<Relationship Id="rId6" Type="http://schemas.openxmlformats.org/officeDocument/2006/relationships/theme" Target="theme/theme1.xml"/>
<Relationship Id="rId7" Type="http://schemas.openxmlformats.org/officeDocument/2006/relationships/tableStyles" Target="tableStyles.xml"/>
<Relationship Id="rId1" Type="http://schemas.openxmlformats.org/officeDocument/2006/relationships/slideMaster" Target="slideMasters/slideMaster1.xml"/>
<Relationship Id="rId2" Type="http://schemas.openxmlformats.org/officeDocument/2006/relationships/printerSettings" Target="printerSettings/printerSettings1.bin"/>
<Relationship Id="rId8" Type="http://schemas.openxmlformats.org/officeDocument/2006/relationships/slide" Target="slides/slide1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7.xml"/>
<Relationship Id="rId2" Type="http://schemas.openxmlformats.org/officeDocument/2006/relationships/image" Target="../media/268901c9a7d335405fa79d9a4e1aab5070ee1cd2.png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571500" y="0"/>
            <a:ext cx="8001000" cy="6858000"/>
            <a:chOff x="571500" y="0"/>
            <a:chExt cx="8001000" cy="6858000"/>
          </a:xfrm>
        </p:grpSpPr>
        <p:sp>
          <p:nvSpPr>
            <p:cNvPr id="3" name="rc3"/>
            <p:cNvSpPr/>
            <p:nvPr/>
          </p:nvSpPr>
          <p:spPr>
            <a:xfrm>
              <a:off x="571500" y="0"/>
              <a:ext cx="8001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571500" y="0"/>
              <a:ext cx="8001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4782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3195317" y="316514"/>
              <a:ext cx="4082565" cy="610042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3195317" y="6058088"/>
              <a:ext cx="4082565" cy="0"/>
            </a:xfrm>
            <a:custGeom>
              <a:avLst/>
              <a:pathLst>
                <a:path w="4082565" h="0">
                  <a:moveTo>
                    <a:pt x="0" y="0"/>
                  </a:moveTo>
                  <a:lnTo>
                    <a:pt x="4082565" y="0"/>
                  </a:lnTo>
                  <a:lnTo>
                    <a:pt x="4082565" y="0"/>
                  </a:lnTo>
                </a:path>
              </a:pathLst>
            </a:custGeom>
            <a:ln w="10840" cap="flat">
              <a:solidFill>
                <a:srgbClr val="E0E0E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3195317" y="5460007"/>
              <a:ext cx="4082565" cy="0"/>
            </a:xfrm>
            <a:custGeom>
              <a:avLst/>
              <a:pathLst>
                <a:path w="4082565" h="0">
                  <a:moveTo>
                    <a:pt x="0" y="0"/>
                  </a:moveTo>
                  <a:lnTo>
                    <a:pt x="4082565" y="0"/>
                  </a:lnTo>
                  <a:lnTo>
                    <a:pt x="4082565" y="0"/>
                  </a:lnTo>
                </a:path>
              </a:pathLst>
            </a:custGeom>
            <a:ln w="10840" cap="flat">
              <a:solidFill>
                <a:srgbClr val="E0E0E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3195317" y="4861926"/>
              <a:ext cx="4082565" cy="0"/>
            </a:xfrm>
            <a:custGeom>
              <a:avLst/>
              <a:pathLst>
                <a:path w="4082565" h="0">
                  <a:moveTo>
                    <a:pt x="0" y="0"/>
                  </a:moveTo>
                  <a:lnTo>
                    <a:pt x="4082565" y="0"/>
                  </a:lnTo>
                  <a:lnTo>
                    <a:pt x="4082565" y="0"/>
                  </a:lnTo>
                </a:path>
              </a:pathLst>
            </a:custGeom>
            <a:ln w="10840" cap="flat">
              <a:solidFill>
                <a:srgbClr val="E0E0E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3195317" y="4263846"/>
              <a:ext cx="4082565" cy="0"/>
            </a:xfrm>
            <a:custGeom>
              <a:avLst/>
              <a:pathLst>
                <a:path w="4082565" h="0">
                  <a:moveTo>
                    <a:pt x="0" y="0"/>
                  </a:moveTo>
                  <a:lnTo>
                    <a:pt x="4082565" y="0"/>
                  </a:lnTo>
                  <a:lnTo>
                    <a:pt x="4082565" y="0"/>
                  </a:lnTo>
                </a:path>
              </a:pathLst>
            </a:custGeom>
            <a:ln w="10840" cap="flat">
              <a:solidFill>
                <a:srgbClr val="E0E0E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3195317" y="3665765"/>
              <a:ext cx="4082565" cy="0"/>
            </a:xfrm>
            <a:custGeom>
              <a:avLst/>
              <a:pathLst>
                <a:path w="4082565" h="0">
                  <a:moveTo>
                    <a:pt x="0" y="0"/>
                  </a:moveTo>
                  <a:lnTo>
                    <a:pt x="4082565" y="0"/>
                  </a:lnTo>
                  <a:lnTo>
                    <a:pt x="4082565" y="0"/>
                  </a:lnTo>
                </a:path>
              </a:pathLst>
            </a:custGeom>
            <a:ln w="10840" cap="flat">
              <a:solidFill>
                <a:srgbClr val="E0E0E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3195317" y="3067685"/>
              <a:ext cx="4082565" cy="0"/>
            </a:xfrm>
            <a:custGeom>
              <a:avLst/>
              <a:pathLst>
                <a:path w="4082565" h="0">
                  <a:moveTo>
                    <a:pt x="0" y="0"/>
                  </a:moveTo>
                  <a:lnTo>
                    <a:pt x="4082565" y="0"/>
                  </a:lnTo>
                  <a:lnTo>
                    <a:pt x="4082565" y="0"/>
                  </a:lnTo>
                </a:path>
              </a:pathLst>
            </a:custGeom>
            <a:ln w="10840" cap="flat">
              <a:solidFill>
                <a:srgbClr val="E0E0E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3195317" y="2469604"/>
              <a:ext cx="4082565" cy="0"/>
            </a:xfrm>
            <a:custGeom>
              <a:avLst/>
              <a:pathLst>
                <a:path w="4082565" h="0">
                  <a:moveTo>
                    <a:pt x="0" y="0"/>
                  </a:moveTo>
                  <a:lnTo>
                    <a:pt x="4082565" y="0"/>
                  </a:lnTo>
                  <a:lnTo>
                    <a:pt x="4082565" y="0"/>
                  </a:lnTo>
                </a:path>
              </a:pathLst>
            </a:custGeom>
            <a:ln w="10840" cap="flat">
              <a:solidFill>
                <a:srgbClr val="E0E0E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3195317" y="1871523"/>
              <a:ext cx="4082565" cy="0"/>
            </a:xfrm>
            <a:custGeom>
              <a:avLst/>
              <a:pathLst>
                <a:path w="4082565" h="0">
                  <a:moveTo>
                    <a:pt x="0" y="0"/>
                  </a:moveTo>
                  <a:lnTo>
                    <a:pt x="4082565" y="0"/>
                  </a:lnTo>
                  <a:lnTo>
                    <a:pt x="4082565" y="0"/>
                  </a:lnTo>
                </a:path>
              </a:pathLst>
            </a:custGeom>
            <a:ln w="10840" cap="flat">
              <a:solidFill>
                <a:srgbClr val="E0E0E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3195317" y="1273443"/>
              <a:ext cx="4082565" cy="0"/>
            </a:xfrm>
            <a:custGeom>
              <a:avLst/>
              <a:pathLst>
                <a:path w="4082565" h="0">
                  <a:moveTo>
                    <a:pt x="0" y="0"/>
                  </a:moveTo>
                  <a:lnTo>
                    <a:pt x="4082565" y="0"/>
                  </a:lnTo>
                  <a:lnTo>
                    <a:pt x="4082565" y="0"/>
                  </a:lnTo>
                </a:path>
              </a:pathLst>
            </a:custGeom>
            <a:ln w="10840" cap="flat">
              <a:solidFill>
                <a:srgbClr val="E0E0E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3195317" y="675362"/>
              <a:ext cx="4082565" cy="0"/>
            </a:xfrm>
            <a:custGeom>
              <a:avLst/>
              <a:pathLst>
                <a:path w="4082565" h="0">
                  <a:moveTo>
                    <a:pt x="0" y="0"/>
                  </a:moveTo>
                  <a:lnTo>
                    <a:pt x="4082565" y="0"/>
                  </a:lnTo>
                  <a:lnTo>
                    <a:pt x="4082565" y="0"/>
                  </a:lnTo>
                </a:path>
              </a:pathLst>
            </a:custGeom>
            <a:ln w="10840" cap="flat">
              <a:solidFill>
                <a:srgbClr val="E0E0E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3233832" y="316514"/>
              <a:ext cx="0" cy="6100422"/>
            </a:xfrm>
            <a:custGeom>
              <a:avLst/>
              <a:pathLst>
                <a:path w="0" h="6100422">
                  <a:moveTo>
                    <a:pt x="0" y="61004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0840" cap="flat">
              <a:solidFill>
                <a:srgbClr val="E0E0E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4004127" y="316514"/>
              <a:ext cx="0" cy="6100422"/>
            </a:xfrm>
            <a:custGeom>
              <a:avLst/>
              <a:pathLst>
                <a:path w="0" h="6100422">
                  <a:moveTo>
                    <a:pt x="0" y="61004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0840" cap="flat">
              <a:solidFill>
                <a:srgbClr val="E0E0E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4774423" y="316514"/>
              <a:ext cx="0" cy="6100422"/>
            </a:xfrm>
            <a:custGeom>
              <a:avLst/>
              <a:pathLst>
                <a:path w="0" h="6100422">
                  <a:moveTo>
                    <a:pt x="0" y="61004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0840" cap="flat">
              <a:solidFill>
                <a:srgbClr val="E0E0E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5544718" y="316514"/>
              <a:ext cx="0" cy="6100422"/>
            </a:xfrm>
            <a:custGeom>
              <a:avLst/>
              <a:pathLst>
                <a:path w="0" h="6100422">
                  <a:moveTo>
                    <a:pt x="0" y="61004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0840" cap="flat">
              <a:solidFill>
                <a:srgbClr val="E0E0E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6315014" y="316514"/>
              <a:ext cx="0" cy="6100422"/>
            </a:xfrm>
            <a:custGeom>
              <a:avLst/>
              <a:pathLst>
                <a:path w="0" h="6100422">
                  <a:moveTo>
                    <a:pt x="0" y="61004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0840" cap="flat">
              <a:solidFill>
                <a:srgbClr val="E0E0E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7085309" y="316514"/>
              <a:ext cx="0" cy="6100422"/>
            </a:xfrm>
            <a:custGeom>
              <a:avLst/>
              <a:pathLst>
                <a:path w="0" h="6100422">
                  <a:moveTo>
                    <a:pt x="0" y="61004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0840" cap="flat">
              <a:solidFill>
                <a:srgbClr val="E0E0E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t22"/>
            <p:cNvSpPr/>
            <p:nvPr/>
          </p:nvSpPr>
          <p:spPr>
            <a:xfrm>
              <a:off x="4142912" y="5965784"/>
              <a:ext cx="184607" cy="184607"/>
            </a:xfrm>
            <a:prstGeom prst="ellipse">
              <a:avLst/>
            </a:prstGeom>
            <a:solidFill>
              <a:srgbClr val="2B6CB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3" name="pt23"/>
            <p:cNvSpPr/>
            <p:nvPr/>
          </p:nvSpPr>
          <p:spPr>
            <a:xfrm>
              <a:off x="4248860" y="5319592"/>
              <a:ext cx="280830" cy="280830"/>
            </a:xfrm>
            <a:prstGeom prst="ellipse">
              <a:avLst/>
            </a:prstGeom>
            <a:solidFill>
              <a:srgbClr val="AED9E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4" name="pt24"/>
            <p:cNvSpPr/>
            <p:nvPr/>
          </p:nvSpPr>
          <p:spPr>
            <a:xfrm>
              <a:off x="4248860" y="4721511"/>
              <a:ext cx="280830" cy="280830"/>
            </a:xfrm>
            <a:prstGeom prst="ellipse">
              <a:avLst/>
            </a:prstGeom>
            <a:solidFill>
              <a:srgbClr val="C6D4C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" name="pt25"/>
            <p:cNvSpPr/>
            <p:nvPr/>
          </p:nvSpPr>
          <p:spPr>
            <a:xfrm>
              <a:off x="4687442" y="4138350"/>
              <a:ext cx="250991" cy="250991"/>
            </a:xfrm>
            <a:prstGeom prst="ellipse">
              <a:avLst/>
            </a:prstGeom>
            <a:solidFill>
              <a:srgbClr val="E6C98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" name="pt26"/>
            <p:cNvSpPr/>
            <p:nvPr/>
          </p:nvSpPr>
          <p:spPr>
            <a:xfrm>
              <a:off x="5428116" y="3549163"/>
              <a:ext cx="233204" cy="233204"/>
            </a:xfrm>
            <a:prstGeom prst="ellipse">
              <a:avLst/>
            </a:prstGeom>
            <a:solidFill>
              <a:srgbClr val="FCBF4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" name="pt27"/>
            <p:cNvSpPr/>
            <p:nvPr/>
          </p:nvSpPr>
          <p:spPr>
            <a:xfrm>
              <a:off x="5404303" y="2927269"/>
              <a:ext cx="280830" cy="280830"/>
            </a:xfrm>
            <a:prstGeom prst="ellipse">
              <a:avLst/>
            </a:prstGeom>
            <a:solidFill>
              <a:srgbClr val="FBA63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" name="pt28"/>
            <p:cNvSpPr/>
            <p:nvPr/>
          </p:nvSpPr>
          <p:spPr>
            <a:xfrm>
              <a:off x="6082867" y="2353002"/>
              <a:ext cx="233204" cy="233204"/>
            </a:xfrm>
            <a:prstGeom prst="ellipse">
              <a:avLst/>
            </a:prstGeom>
            <a:solidFill>
              <a:srgbClr val="F77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" name="pt29"/>
            <p:cNvSpPr/>
            <p:nvPr/>
          </p:nvSpPr>
          <p:spPr>
            <a:xfrm>
              <a:off x="6140358" y="1812412"/>
              <a:ext cx="118223" cy="118223"/>
            </a:xfrm>
            <a:prstGeom prst="ellipse">
              <a:avLst/>
            </a:prstGeom>
            <a:solidFill>
              <a:srgbClr val="EF6D1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" name="pt30"/>
            <p:cNvSpPr/>
            <p:nvPr/>
          </p:nvSpPr>
          <p:spPr>
            <a:xfrm>
              <a:off x="5485607" y="1214331"/>
              <a:ext cx="118223" cy="118223"/>
            </a:xfrm>
            <a:prstGeom prst="ellipse">
              <a:avLst/>
            </a:prstGeom>
            <a:solidFill>
              <a:srgbClr val="E7591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" name="pt31"/>
            <p:cNvSpPr/>
            <p:nvPr/>
          </p:nvSpPr>
          <p:spPr>
            <a:xfrm>
              <a:off x="6082867" y="558760"/>
              <a:ext cx="233204" cy="233204"/>
            </a:xfrm>
            <a:prstGeom prst="ellipse">
              <a:avLst/>
            </a:prstGeom>
            <a:solidFill>
              <a:srgbClr val="DF432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" name="rc32"/>
            <p:cNvSpPr/>
            <p:nvPr/>
          </p:nvSpPr>
          <p:spPr>
            <a:xfrm>
              <a:off x="3195317" y="316514"/>
              <a:ext cx="4082565" cy="6100422"/>
            </a:xfrm>
            <a:prstGeom prst="rect">
              <a:avLst/>
            </a:prstGeom>
            <a:noFill/>
            <a:ln w="1626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tx33"/>
            <p:cNvSpPr/>
            <p:nvPr/>
          </p:nvSpPr>
          <p:spPr>
            <a:xfrm>
              <a:off x="760526" y="6012596"/>
              <a:ext cx="2366467" cy="909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Arp2/3 complex-mediated actin nucleation</a:t>
              </a:r>
            </a:p>
          </p:txBody>
        </p:sp>
        <p:sp>
          <p:nvSpPr>
            <p:cNvPr id="34" name="tx34"/>
            <p:cNvSpPr/>
            <p:nvPr/>
          </p:nvSpPr>
          <p:spPr>
            <a:xfrm>
              <a:off x="2032274" y="5414516"/>
              <a:ext cx="1094719" cy="909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ribosome assembly</a:t>
              </a:r>
            </a:p>
          </p:txBody>
        </p:sp>
        <p:sp>
          <p:nvSpPr>
            <p:cNvPr id="35" name="tx35"/>
            <p:cNvSpPr/>
            <p:nvPr/>
          </p:nvSpPr>
          <p:spPr>
            <a:xfrm>
              <a:off x="647415" y="4816435"/>
              <a:ext cx="2479578" cy="909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regulation of actin filament depolymerization</a:t>
              </a:r>
            </a:p>
          </p:txBody>
        </p:sp>
        <p:sp>
          <p:nvSpPr>
            <p:cNvPr id="36" name="tx36"/>
            <p:cNvSpPr/>
            <p:nvPr/>
          </p:nvSpPr>
          <p:spPr>
            <a:xfrm>
              <a:off x="1077914" y="4149774"/>
              <a:ext cx="2049078" cy="909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antigen processing and presentation</a:t>
              </a:r>
            </a:p>
          </p:txBody>
        </p:sp>
        <p:sp>
          <p:nvSpPr>
            <p:cNvPr id="37" name="tx37"/>
            <p:cNvSpPr/>
            <p:nvPr/>
          </p:nvSpPr>
          <p:spPr>
            <a:xfrm>
              <a:off x="1911573" y="4286934"/>
              <a:ext cx="1215420" cy="909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of exogenous antigen</a:t>
              </a:r>
            </a:p>
          </p:txBody>
        </p:sp>
        <p:sp>
          <p:nvSpPr>
            <p:cNvPr id="38" name="tx38"/>
            <p:cNvSpPr/>
            <p:nvPr/>
          </p:nvSpPr>
          <p:spPr>
            <a:xfrm>
              <a:off x="2385141" y="3620274"/>
              <a:ext cx="741852" cy="909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phagocytosis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1077914" y="3022193"/>
              <a:ext cx="2049078" cy="909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antigen processing and presentation</a:t>
              </a:r>
            </a:p>
          </p:txBody>
        </p:sp>
        <p:sp>
          <p:nvSpPr>
            <p:cNvPr id="40" name="tx40"/>
            <p:cNvSpPr/>
            <p:nvPr/>
          </p:nvSpPr>
          <p:spPr>
            <a:xfrm>
              <a:off x="1523593" y="2424112"/>
              <a:ext cx="1603400" cy="909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actin filament polymerization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1261892" y="1826032"/>
              <a:ext cx="1865101" cy="909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regulation of actin filament length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1269024" y="1159371"/>
              <a:ext cx="1857969" cy="909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regulation of actin polymerization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2017918" y="1296531"/>
              <a:ext cx="1109075" cy="909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or depolymerization</a:t>
              </a:r>
            </a:p>
          </p:txBody>
        </p:sp>
        <p:sp>
          <p:nvSpPr>
            <p:cNvPr id="44" name="tx44"/>
            <p:cNvSpPr/>
            <p:nvPr/>
          </p:nvSpPr>
          <p:spPr>
            <a:xfrm>
              <a:off x="788781" y="629871"/>
              <a:ext cx="2338212" cy="909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regulation of actin filament polymerization</a:t>
              </a:r>
            </a:p>
          </p:txBody>
        </p:sp>
        <p:sp>
          <p:nvSpPr>
            <p:cNvPr id="45" name="pl45"/>
            <p:cNvSpPr/>
            <p:nvPr/>
          </p:nvSpPr>
          <p:spPr>
            <a:xfrm>
              <a:off x="3157359" y="6058088"/>
              <a:ext cx="37957" cy="0"/>
            </a:xfrm>
            <a:custGeom>
              <a:avLst/>
              <a:pathLst>
                <a:path w="37957" h="0">
                  <a:moveTo>
                    <a:pt x="0" y="0"/>
                  </a:moveTo>
                  <a:lnTo>
                    <a:pt x="37957" y="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l46"/>
            <p:cNvSpPr/>
            <p:nvPr/>
          </p:nvSpPr>
          <p:spPr>
            <a:xfrm>
              <a:off x="3157359" y="5460007"/>
              <a:ext cx="37957" cy="0"/>
            </a:xfrm>
            <a:custGeom>
              <a:avLst/>
              <a:pathLst>
                <a:path w="37957" h="0">
                  <a:moveTo>
                    <a:pt x="0" y="0"/>
                  </a:moveTo>
                  <a:lnTo>
                    <a:pt x="37957" y="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l47"/>
            <p:cNvSpPr/>
            <p:nvPr/>
          </p:nvSpPr>
          <p:spPr>
            <a:xfrm>
              <a:off x="3157359" y="4861926"/>
              <a:ext cx="37957" cy="0"/>
            </a:xfrm>
            <a:custGeom>
              <a:avLst/>
              <a:pathLst>
                <a:path w="37957" h="0">
                  <a:moveTo>
                    <a:pt x="0" y="0"/>
                  </a:moveTo>
                  <a:lnTo>
                    <a:pt x="37957" y="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l48"/>
            <p:cNvSpPr/>
            <p:nvPr/>
          </p:nvSpPr>
          <p:spPr>
            <a:xfrm>
              <a:off x="3157359" y="4263846"/>
              <a:ext cx="37957" cy="0"/>
            </a:xfrm>
            <a:custGeom>
              <a:avLst/>
              <a:pathLst>
                <a:path w="37957" h="0">
                  <a:moveTo>
                    <a:pt x="0" y="0"/>
                  </a:moveTo>
                  <a:lnTo>
                    <a:pt x="37957" y="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l49"/>
            <p:cNvSpPr/>
            <p:nvPr/>
          </p:nvSpPr>
          <p:spPr>
            <a:xfrm>
              <a:off x="3157359" y="3665765"/>
              <a:ext cx="37957" cy="0"/>
            </a:xfrm>
            <a:custGeom>
              <a:avLst/>
              <a:pathLst>
                <a:path w="37957" h="0">
                  <a:moveTo>
                    <a:pt x="0" y="0"/>
                  </a:moveTo>
                  <a:lnTo>
                    <a:pt x="37957" y="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l50"/>
            <p:cNvSpPr/>
            <p:nvPr/>
          </p:nvSpPr>
          <p:spPr>
            <a:xfrm>
              <a:off x="3157359" y="3067685"/>
              <a:ext cx="37957" cy="0"/>
            </a:xfrm>
            <a:custGeom>
              <a:avLst/>
              <a:pathLst>
                <a:path w="37957" h="0">
                  <a:moveTo>
                    <a:pt x="0" y="0"/>
                  </a:moveTo>
                  <a:lnTo>
                    <a:pt x="37957" y="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l51"/>
            <p:cNvSpPr/>
            <p:nvPr/>
          </p:nvSpPr>
          <p:spPr>
            <a:xfrm>
              <a:off x="3157359" y="2469604"/>
              <a:ext cx="37957" cy="0"/>
            </a:xfrm>
            <a:custGeom>
              <a:avLst/>
              <a:pathLst>
                <a:path w="37957" h="0">
                  <a:moveTo>
                    <a:pt x="0" y="0"/>
                  </a:moveTo>
                  <a:lnTo>
                    <a:pt x="37957" y="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l52"/>
            <p:cNvSpPr/>
            <p:nvPr/>
          </p:nvSpPr>
          <p:spPr>
            <a:xfrm>
              <a:off x="3157359" y="1871523"/>
              <a:ext cx="37957" cy="0"/>
            </a:xfrm>
            <a:custGeom>
              <a:avLst/>
              <a:pathLst>
                <a:path w="37957" h="0">
                  <a:moveTo>
                    <a:pt x="0" y="0"/>
                  </a:moveTo>
                  <a:lnTo>
                    <a:pt x="37957" y="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l53"/>
            <p:cNvSpPr/>
            <p:nvPr/>
          </p:nvSpPr>
          <p:spPr>
            <a:xfrm>
              <a:off x="3157359" y="1273443"/>
              <a:ext cx="37957" cy="0"/>
            </a:xfrm>
            <a:custGeom>
              <a:avLst/>
              <a:pathLst>
                <a:path w="37957" h="0">
                  <a:moveTo>
                    <a:pt x="0" y="0"/>
                  </a:moveTo>
                  <a:lnTo>
                    <a:pt x="37957" y="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l54"/>
            <p:cNvSpPr/>
            <p:nvPr/>
          </p:nvSpPr>
          <p:spPr>
            <a:xfrm>
              <a:off x="3157359" y="675362"/>
              <a:ext cx="37957" cy="0"/>
            </a:xfrm>
            <a:custGeom>
              <a:avLst/>
              <a:pathLst>
                <a:path w="37957" h="0">
                  <a:moveTo>
                    <a:pt x="0" y="0"/>
                  </a:moveTo>
                  <a:lnTo>
                    <a:pt x="37957" y="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l55"/>
            <p:cNvSpPr/>
            <p:nvPr/>
          </p:nvSpPr>
          <p:spPr>
            <a:xfrm>
              <a:off x="3233832" y="6416936"/>
              <a:ext cx="0" cy="37957"/>
            </a:xfrm>
            <a:custGeom>
              <a:avLst/>
              <a:pathLst>
                <a:path w="0" h="37957">
                  <a:moveTo>
                    <a:pt x="0" y="37957"/>
                  </a:moveTo>
                  <a:lnTo>
                    <a:pt x="0" y="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l56"/>
            <p:cNvSpPr/>
            <p:nvPr/>
          </p:nvSpPr>
          <p:spPr>
            <a:xfrm>
              <a:off x="4004127" y="6416936"/>
              <a:ext cx="0" cy="37957"/>
            </a:xfrm>
            <a:custGeom>
              <a:avLst/>
              <a:pathLst>
                <a:path w="0" h="37957">
                  <a:moveTo>
                    <a:pt x="0" y="37957"/>
                  </a:moveTo>
                  <a:lnTo>
                    <a:pt x="0" y="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l57"/>
            <p:cNvSpPr/>
            <p:nvPr/>
          </p:nvSpPr>
          <p:spPr>
            <a:xfrm>
              <a:off x="4774423" y="6416936"/>
              <a:ext cx="0" cy="37957"/>
            </a:xfrm>
            <a:custGeom>
              <a:avLst/>
              <a:pathLst>
                <a:path w="0" h="37957">
                  <a:moveTo>
                    <a:pt x="0" y="37957"/>
                  </a:moveTo>
                  <a:lnTo>
                    <a:pt x="0" y="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l58"/>
            <p:cNvSpPr/>
            <p:nvPr/>
          </p:nvSpPr>
          <p:spPr>
            <a:xfrm>
              <a:off x="5544718" y="6416936"/>
              <a:ext cx="0" cy="37957"/>
            </a:xfrm>
            <a:custGeom>
              <a:avLst/>
              <a:pathLst>
                <a:path w="0" h="37957">
                  <a:moveTo>
                    <a:pt x="0" y="37957"/>
                  </a:moveTo>
                  <a:lnTo>
                    <a:pt x="0" y="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l59"/>
            <p:cNvSpPr/>
            <p:nvPr/>
          </p:nvSpPr>
          <p:spPr>
            <a:xfrm>
              <a:off x="6315014" y="6416936"/>
              <a:ext cx="0" cy="37957"/>
            </a:xfrm>
            <a:custGeom>
              <a:avLst/>
              <a:pathLst>
                <a:path w="0" h="37957">
                  <a:moveTo>
                    <a:pt x="0" y="37957"/>
                  </a:moveTo>
                  <a:lnTo>
                    <a:pt x="0" y="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l60"/>
            <p:cNvSpPr/>
            <p:nvPr/>
          </p:nvSpPr>
          <p:spPr>
            <a:xfrm>
              <a:off x="7085309" y="6416936"/>
              <a:ext cx="0" cy="37957"/>
            </a:xfrm>
            <a:custGeom>
              <a:avLst/>
              <a:pathLst>
                <a:path w="0" h="37957">
                  <a:moveTo>
                    <a:pt x="0" y="37957"/>
                  </a:moveTo>
                  <a:lnTo>
                    <a:pt x="0" y="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tx61"/>
            <p:cNvSpPr/>
            <p:nvPr/>
          </p:nvSpPr>
          <p:spPr>
            <a:xfrm>
              <a:off x="3110159" y="6485260"/>
              <a:ext cx="247345" cy="909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0.00</a:t>
              </a:r>
            </a:p>
          </p:txBody>
        </p:sp>
        <p:sp>
          <p:nvSpPr>
            <p:cNvPr id="62" name="tx62"/>
            <p:cNvSpPr/>
            <p:nvPr/>
          </p:nvSpPr>
          <p:spPr>
            <a:xfrm>
              <a:off x="3880455" y="6485260"/>
              <a:ext cx="247345" cy="909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0.02</a:t>
              </a:r>
            </a:p>
          </p:txBody>
        </p:sp>
        <p:sp>
          <p:nvSpPr>
            <p:cNvPr id="63" name="tx63"/>
            <p:cNvSpPr/>
            <p:nvPr/>
          </p:nvSpPr>
          <p:spPr>
            <a:xfrm>
              <a:off x="4650750" y="6485260"/>
              <a:ext cx="247345" cy="909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0.04</a:t>
              </a:r>
            </a:p>
          </p:txBody>
        </p:sp>
        <p:sp>
          <p:nvSpPr>
            <p:cNvPr id="64" name="tx64"/>
            <p:cNvSpPr/>
            <p:nvPr/>
          </p:nvSpPr>
          <p:spPr>
            <a:xfrm>
              <a:off x="5421046" y="6485260"/>
              <a:ext cx="247345" cy="909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0.06</a:t>
              </a:r>
            </a:p>
          </p:txBody>
        </p:sp>
        <p:sp>
          <p:nvSpPr>
            <p:cNvPr id="65" name="tx65"/>
            <p:cNvSpPr/>
            <p:nvPr/>
          </p:nvSpPr>
          <p:spPr>
            <a:xfrm>
              <a:off x="6191341" y="6485260"/>
              <a:ext cx="247345" cy="909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0.08</a:t>
              </a:r>
            </a:p>
          </p:txBody>
        </p:sp>
        <p:sp>
          <p:nvSpPr>
            <p:cNvPr id="66" name="tx66"/>
            <p:cNvSpPr/>
            <p:nvPr/>
          </p:nvSpPr>
          <p:spPr>
            <a:xfrm>
              <a:off x="6961636" y="6485260"/>
              <a:ext cx="247345" cy="909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0.10</a:t>
              </a:r>
            </a:p>
          </p:txBody>
        </p:sp>
        <p:sp>
          <p:nvSpPr>
            <p:cNvPr id="67" name="tx67"/>
            <p:cNvSpPr/>
            <p:nvPr/>
          </p:nvSpPr>
          <p:spPr>
            <a:xfrm>
              <a:off x="4872257" y="6640901"/>
              <a:ext cx="728685" cy="1091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GeneRatio</a:t>
              </a:r>
            </a:p>
          </p:txBody>
        </p:sp>
        <p:sp>
          <p:nvSpPr>
            <p:cNvPr id="68" name="rc68"/>
            <p:cNvSpPr/>
            <p:nvPr/>
          </p:nvSpPr>
          <p:spPr>
            <a:xfrm>
              <a:off x="7429713" y="1945513"/>
              <a:ext cx="1066870" cy="1241664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9" name="tx69"/>
            <p:cNvSpPr/>
            <p:nvPr/>
          </p:nvSpPr>
          <p:spPr>
            <a:xfrm>
              <a:off x="7505629" y="2037430"/>
              <a:ext cx="915040" cy="1091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GeneNumber</a:t>
              </a:r>
            </a:p>
          </p:txBody>
        </p:sp>
        <p:sp>
          <p:nvSpPr>
            <p:cNvPr id="70" name="rc70"/>
            <p:cNvSpPr/>
            <p:nvPr/>
          </p:nvSpPr>
          <p:spPr>
            <a:xfrm>
              <a:off x="7505629" y="2238527"/>
              <a:ext cx="360000" cy="215999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1" name="pt71"/>
            <p:cNvSpPr/>
            <p:nvPr/>
          </p:nvSpPr>
          <p:spPr>
            <a:xfrm>
              <a:off x="7626517" y="2287415"/>
              <a:ext cx="118223" cy="118223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" name="rc72"/>
            <p:cNvSpPr/>
            <p:nvPr/>
          </p:nvSpPr>
          <p:spPr>
            <a:xfrm>
              <a:off x="7505629" y="2454527"/>
              <a:ext cx="360000" cy="29673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" name="pt73"/>
            <p:cNvSpPr/>
            <p:nvPr/>
          </p:nvSpPr>
          <p:spPr>
            <a:xfrm>
              <a:off x="7569027" y="2486292"/>
              <a:ext cx="233204" cy="233204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" name="rc74"/>
            <p:cNvSpPr/>
            <p:nvPr/>
          </p:nvSpPr>
          <p:spPr>
            <a:xfrm>
              <a:off x="7505629" y="2751262"/>
              <a:ext cx="360000" cy="360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" name="pt75"/>
            <p:cNvSpPr/>
            <p:nvPr/>
          </p:nvSpPr>
          <p:spPr>
            <a:xfrm>
              <a:off x="7545213" y="2790846"/>
              <a:ext cx="280830" cy="28083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" name="tx76"/>
            <p:cNvSpPr/>
            <p:nvPr/>
          </p:nvSpPr>
          <p:spPr>
            <a:xfrm>
              <a:off x="7941544" y="2302910"/>
              <a:ext cx="67757" cy="872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6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4</a:t>
              </a:r>
            </a:p>
          </p:txBody>
        </p:sp>
        <p:sp>
          <p:nvSpPr>
            <p:cNvPr id="77" name="tx77"/>
            <p:cNvSpPr/>
            <p:nvPr/>
          </p:nvSpPr>
          <p:spPr>
            <a:xfrm>
              <a:off x="7941544" y="2559277"/>
              <a:ext cx="67757" cy="872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6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7</a:t>
              </a:r>
            </a:p>
          </p:txBody>
        </p:sp>
        <p:sp>
          <p:nvSpPr>
            <p:cNvPr id="78" name="tx78"/>
            <p:cNvSpPr/>
            <p:nvPr/>
          </p:nvSpPr>
          <p:spPr>
            <a:xfrm>
              <a:off x="7941544" y="2887645"/>
              <a:ext cx="135514" cy="872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6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10</a:t>
              </a:r>
            </a:p>
          </p:txBody>
        </p:sp>
        <p:sp>
          <p:nvSpPr>
            <p:cNvPr id="79" name="rc79"/>
            <p:cNvSpPr/>
            <p:nvPr/>
          </p:nvSpPr>
          <p:spPr>
            <a:xfrm>
              <a:off x="7429713" y="3339008"/>
              <a:ext cx="752062" cy="1448929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" name="tx80"/>
            <p:cNvSpPr/>
            <p:nvPr/>
          </p:nvSpPr>
          <p:spPr>
            <a:xfrm>
              <a:off x="7505629" y="3430925"/>
              <a:ext cx="499902" cy="1091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p-value</a:t>
              </a:r>
            </a:p>
          </p:txBody>
        </p:sp>
        <p:pic>
          <p:nvPicPr>
            <p:cNvPr id="81" name="pic8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505629" y="3632022"/>
              <a:ext cx="219455" cy="1079999"/>
            </a:xfrm>
            <a:prstGeom prst="rect">
              <a:avLst/>
            </a:prstGeom>
          </p:spPr>
        </p:pic>
        <p:sp>
          <p:nvSpPr>
            <p:cNvPr id="82" name="pl82"/>
            <p:cNvSpPr/>
            <p:nvPr/>
          </p:nvSpPr>
          <p:spPr>
            <a:xfrm>
              <a:off x="7681194" y="4200348"/>
              <a:ext cx="43891" cy="0"/>
            </a:xfrm>
            <a:custGeom>
              <a:avLst/>
              <a:pathLst>
                <a:path w="43891" h="0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l83"/>
            <p:cNvSpPr/>
            <p:nvPr/>
          </p:nvSpPr>
          <p:spPr>
            <a:xfrm>
              <a:off x="7681194" y="3633822"/>
              <a:ext cx="43891" cy="0"/>
            </a:xfrm>
            <a:custGeom>
              <a:avLst/>
              <a:pathLst>
                <a:path w="43891" h="0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l84"/>
            <p:cNvSpPr/>
            <p:nvPr/>
          </p:nvSpPr>
          <p:spPr>
            <a:xfrm>
              <a:off x="7505629" y="4200348"/>
              <a:ext cx="43891" cy="0"/>
            </a:xfrm>
            <a:custGeom>
              <a:avLst/>
              <a:pathLst>
                <a:path w="43891" h="0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l85"/>
            <p:cNvSpPr/>
            <p:nvPr/>
          </p:nvSpPr>
          <p:spPr>
            <a:xfrm>
              <a:off x="7505629" y="3633822"/>
              <a:ext cx="43891" cy="0"/>
            </a:xfrm>
            <a:custGeom>
              <a:avLst/>
              <a:pathLst>
                <a:path w="43891" h="0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tx86"/>
            <p:cNvSpPr/>
            <p:nvPr/>
          </p:nvSpPr>
          <p:spPr>
            <a:xfrm>
              <a:off x="7801000" y="4156731"/>
              <a:ext cx="304860" cy="872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6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0.001</a:t>
              </a:r>
            </a:p>
          </p:txBody>
        </p:sp>
        <p:sp>
          <p:nvSpPr>
            <p:cNvPr id="87" name="tx87"/>
            <p:cNvSpPr/>
            <p:nvPr/>
          </p:nvSpPr>
          <p:spPr>
            <a:xfrm>
              <a:off x="7801000" y="3590205"/>
              <a:ext cx="304860" cy="872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6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0.002</a:t>
              </a:r>
            </a:p>
          </p:txBody>
        </p:sp>
        <p:sp>
          <p:nvSpPr>
            <p:cNvPr id="88" name="tx88"/>
            <p:cNvSpPr/>
            <p:nvPr/>
          </p:nvSpPr>
          <p:spPr>
            <a:xfrm>
              <a:off x="3436604" y="75915"/>
              <a:ext cx="3599992" cy="12728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00" i="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GO Enrichment Analysis in C1QBP⁺ TAMs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/>
  <cp:revision>3</cp:revision>
  <dcterms:created xsi:type="dcterms:W3CDTF">2017-02-13T16:18:36Z</dcterms:created>
  <dcterms:modified xsi:type="dcterms:W3CDTF">2026-06-02T23:57:25Z</dcterms:modified>
  <cp:category/>
</cp:coreProperties>
</file>