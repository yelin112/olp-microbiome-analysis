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3697ef163d1f05a3693c542819e1ef310283ea68.png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9f8560dfe0003e819decc9ce7c7961259f2a3542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a67f4f92b88802cd9d986f1094e3877a0d0d4c82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381000"/>
            <a:ext cx="9144000" cy="6096000"/>
            <a:chOff x="0" y="381000"/>
            <a:chExt cx="9144000" cy="6096000"/>
          </a:xfrm>
        </p:grpSpPr>
        <p:sp>
          <p:nvSpPr>
            <p:cNvPr id="3" name="rc3"/>
            <p:cNvSpPr/>
            <p:nvPr/>
          </p:nvSpPr>
          <p:spPr>
            <a:xfrm>
              <a:off x="0" y="380999"/>
              <a:ext cx="9144000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381000"/>
              <a:ext cx="9143999" cy="609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831802" y="661361"/>
              <a:ext cx="5241602" cy="54133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831802" y="5756278"/>
              <a:ext cx="5241602" cy="0"/>
            </a:xfrm>
            <a:custGeom>
              <a:avLst/>
              <a:pathLst>
                <a:path w="5241602" h="0">
                  <a:moveTo>
                    <a:pt x="0" y="0"/>
                  </a:moveTo>
                  <a:lnTo>
                    <a:pt x="5241602" y="0"/>
                  </a:lnTo>
                  <a:lnTo>
                    <a:pt x="524160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831802" y="5225558"/>
              <a:ext cx="5241602" cy="0"/>
            </a:xfrm>
            <a:custGeom>
              <a:avLst/>
              <a:pathLst>
                <a:path w="5241602" h="0">
                  <a:moveTo>
                    <a:pt x="0" y="0"/>
                  </a:moveTo>
                  <a:lnTo>
                    <a:pt x="5241602" y="0"/>
                  </a:lnTo>
                  <a:lnTo>
                    <a:pt x="524160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31802" y="4694837"/>
              <a:ext cx="5241602" cy="0"/>
            </a:xfrm>
            <a:custGeom>
              <a:avLst/>
              <a:pathLst>
                <a:path w="5241602" h="0">
                  <a:moveTo>
                    <a:pt x="0" y="0"/>
                  </a:moveTo>
                  <a:lnTo>
                    <a:pt x="5241602" y="0"/>
                  </a:lnTo>
                  <a:lnTo>
                    <a:pt x="524160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31802" y="4164117"/>
              <a:ext cx="5241602" cy="0"/>
            </a:xfrm>
            <a:custGeom>
              <a:avLst/>
              <a:pathLst>
                <a:path w="5241602" h="0">
                  <a:moveTo>
                    <a:pt x="0" y="0"/>
                  </a:moveTo>
                  <a:lnTo>
                    <a:pt x="5241602" y="0"/>
                  </a:lnTo>
                  <a:lnTo>
                    <a:pt x="524160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1802" y="3633396"/>
              <a:ext cx="5241602" cy="0"/>
            </a:xfrm>
            <a:custGeom>
              <a:avLst/>
              <a:pathLst>
                <a:path w="5241602" h="0">
                  <a:moveTo>
                    <a:pt x="0" y="0"/>
                  </a:moveTo>
                  <a:lnTo>
                    <a:pt x="5241602" y="0"/>
                  </a:lnTo>
                  <a:lnTo>
                    <a:pt x="524160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831802" y="3102676"/>
              <a:ext cx="5241602" cy="0"/>
            </a:xfrm>
            <a:custGeom>
              <a:avLst/>
              <a:pathLst>
                <a:path w="5241602" h="0">
                  <a:moveTo>
                    <a:pt x="0" y="0"/>
                  </a:moveTo>
                  <a:lnTo>
                    <a:pt x="5241602" y="0"/>
                  </a:lnTo>
                  <a:lnTo>
                    <a:pt x="524160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831802" y="2571955"/>
              <a:ext cx="5241602" cy="0"/>
            </a:xfrm>
            <a:custGeom>
              <a:avLst/>
              <a:pathLst>
                <a:path w="5241602" h="0">
                  <a:moveTo>
                    <a:pt x="0" y="0"/>
                  </a:moveTo>
                  <a:lnTo>
                    <a:pt x="5241602" y="0"/>
                  </a:lnTo>
                  <a:lnTo>
                    <a:pt x="524160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831802" y="2041234"/>
              <a:ext cx="5241602" cy="0"/>
            </a:xfrm>
            <a:custGeom>
              <a:avLst/>
              <a:pathLst>
                <a:path w="5241602" h="0">
                  <a:moveTo>
                    <a:pt x="0" y="0"/>
                  </a:moveTo>
                  <a:lnTo>
                    <a:pt x="5241602" y="0"/>
                  </a:lnTo>
                  <a:lnTo>
                    <a:pt x="524160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831802" y="1510514"/>
              <a:ext cx="5241602" cy="0"/>
            </a:xfrm>
            <a:custGeom>
              <a:avLst/>
              <a:pathLst>
                <a:path w="5241602" h="0">
                  <a:moveTo>
                    <a:pt x="0" y="0"/>
                  </a:moveTo>
                  <a:lnTo>
                    <a:pt x="5241602" y="0"/>
                  </a:lnTo>
                  <a:lnTo>
                    <a:pt x="524160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31802" y="979793"/>
              <a:ext cx="5241602" cy="0"/>
            </a:xfrm>
            <a:custGeom>
              <a:avLst/>
              <a:pathLst>
                <a:path w="5241602" h="0">
                  <a:moveTo>
                    <a:pt x="0" y="0"/>
                  </a:moveTo>
                  <a:lnTo>
                    <a:pt x="5241602" y="0"/>
                  </a:lnTo>
                  <a:lnTo>
                    <a:pt x="5241602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879023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865618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852213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838808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25403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811998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7474732" y="853338"/>
              <a:ext cx="252911" cy="252911"/>
            </a:xfrm>
            <a:prstGeom prst="ellipse">
              <a:avLst/>
            </a:prstGeom>
            <a:solidFill>
              <a:srgbClr val="2B6C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7146018" y="1392642"/>
              <a:ext cx="235744" cy="235744"/>
            </a:xfrm>
            <a:prstGeom prst="ellipse">
              <a:avLst/>
            </a:prstGeom>
            <a:solidFill>
              <a:srgbClr val="D628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6492722" y="1944662"/>
              <a:ext cx="193145" cy="193145"/>
            </a:xfrm>
            <a:prstGeom prst="ellipse">
              <a:avLst/>
            </a:prstGeom>
            <a:solidFill>
              <a:srgbClr val="B54A5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170486" y="2490443"/>
              <a:ext cx="163024" cy="163024"/>
            </a:xfrm>
            <a:prstGeom prst="ellipse">
              <a:avLst/>
            </a:prstGeom>
            <a:solidFill>
              <a:srgbClr val="D628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170486" y="3021164"/>
              <a:ext cx="163024" cy="163024"/>
            </a:xfrm>
            <a:prstGeom prst="ellipse">
              <a:avLst/>
            </a:prstGeom>
            <a:solidFill>
              <a:srgbClr val="D628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869549" y="3588244"/>
              <a:ext cx="90303" cy="90303"/>
            </a:xfrm>
            <a:prstGeom prst="ellipse">
              <a:avLst/>
            </a:prstGeom>
            <a:solidFill>
              <a:srgbClr val="D628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869549" y="4118965"/>
              <a:ext cx="90303" cy="90303"/>
            </a:xfrm>
            <a:prstGeom prst="ellipse">
              <a:avLst/>
            </a:prstGeom>
            <a:solidFill>
              <a:srgbClr val="D628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869549" y="4649685"/>
              <a:ext cx="90303" cy="90303"/>
            </a:xfrm>
            <a:prstGeom prst="ellipse">
              <a:avLst/>
            </a:prstGeom>
            <a:solidFill>
              <a:srgbClr val="D628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5869549" y="5180406"/>
              <a:ext cx="90303" cy="90303"/>
            </a:xfrm>
            <a:prstGeom prst="ellipse">
              <a:avLst/>
            </a:prstGeom>
            <a:solidFill>
              <a:srgbClr val="B54A5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5869549" y="5711126"/>
              <a:ext cx="90303" cy="90303"/>
            </a:xfrm>
            <a:prstGeom prst="ellipse">
              <a:avLst/>
            </a:prstGeom>
            <a:solidFill>
              <a:srgbClr val="B54A5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831802" y="661361"/>
              <a:ext cx="5241602" cy="5413349"/>
            </a:xfrm>
            <a:prstGeom prst="rect">
              <a:avLst/>
            </a:prstGeom>
            <a:noFill/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558427" y="5715359"/>
              <a:ext cx="221074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positive regulation of endopeptidase activity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327346" y="5184638"/>
              <a:ext cx="144182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polymerization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092162" y="4653918"/>
              <a:ext cx="167700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length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9589" y="4123197"/>
              <a:ext cx="269958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polymerization or depolymerization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66692" y="3592477"/>
              <a:ext cx="210247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polymerization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990572" y="3061756"/>
              <a:ext cx="177859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protein polymerization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30243" y="2531036"/>
              <a:ext cx="203892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polymerization or depolymerization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80900" y="2000315"/>
              <a:ext cx="198827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organization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18889" y="1469594"/>
              <a:ext cx="23502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supramolecular fiber organization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56978" y="938874"/>
              <a:ext cx="191219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ribonucleoprotein complex biogenesis</a:t>
              </a:r>
            </a:p>
          </p:txBody>
        </p:sp>
        <p:sp>
          <p:nvSpPr>
            <p:cNvPr id="43" name="pl43"/>
            <p:cNvSpPr/>
            <p:nvPr/>
          </p:nvSpPr>
          <p:spPr>
            <a:xfrm>
              <a:off x="2797007" y="57562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97007" y="522555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97007" y="46948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97007" y="41641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97007" y="36333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97007" y="31026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97007" y="25719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97007" y="20412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97007" y="15105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97007" y="97979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879023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865618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852213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838808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825403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811998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2736057" y="6137341"/>
              <a:ext cx="28593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722652" y="6137341"/>
              <a:ext cx="28593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709247" y="6137341"/>
              <a:ext cx="28593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695842" y="6137341"/>
              <a:ext cx="28593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682437" y="6137341"/>
              <a:ext cx="28593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669032" y="6137341"/>
              <a:ext cx="28593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118573" y="6277931"/>
              <a:ext cx="66806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8212582" y="2407902"/>
              <a:ext cx="772860" cy="1238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8282171" y="2492212"/>
              <a:ext cx="48947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p.adjust</a:t>
              </a:r>
            </a:p>
          </p:txBody>
        </p:sp>
        <p:pic>
          <p:nvPicPr>
            <p:cNvPr id="68" name="pic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2171" y="2676559"/>
              <a:ext cx="219455" cy="900000"/>
            </a:xfrm>
            <a:prstGeom prst="rect">
              <a:avLst/>
            </a:prstGeom>
          </p:spPr>
        </p:pic>
        <p:sp>
          <p:nvSpPr>
            <p:cNvPr id="69" name="pl69"/>
            <p:cNvSpPr/>
            <p:nvPr/>
          </p:nvSpPr>
          <p:spPr>
            <a:xfrm>
              <a:off x="8457736" y="348055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457736" y="321669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457736" y="295283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457736" y="268896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282171" y="348055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282171" y="321669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282171" y="295283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282171" y="268896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tx77"/>
            <p:cNvSpPr/>
            <p:nvPr/>
          </p:nvSpPr>
          <p:spPr>
            <a:xfrm>
              <a:off x="8571216" y="3444158"/>
              <a:ext cx="34463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3.0e-04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8571216" y="3180297"/>
              <a:ext cx="34463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3.5e-04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8571216" y="2916437"/>
              <a:ext cx="34463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4.0e-04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8571216" y="2652576"/>
              <a:ext cx="34463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4.5e-04</a:t>
              </a:r>
            </a:p>
          </p:txBody>
        </p:sp>
        <p:sp>
          <p:nvSpPr>
            <p:cNvPr id="81" name="rc81"/>
            <p:cNvSpPr/>
            <p:nvPr/>
          </p:nvSpPr>
          <p:spPr>
            <a:xfrm>
              <a:off x="8212582" y="3785326"/>
              <a:ext cx="861828" cy="54284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tx82"/>
            <p:cNvSpPr/>
            <p:nvPr/>
          </p:nvSpPr>
          <p:spPr>
            <a:xfrm>
              <a:off x="8282171" y="3869637"/>
              <a:ext cx="72265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count</a:t>
              </a:r>
            </a:p>
          </p:txBody>
        </p:sp>
        <p:sp>
          <p:nvSpPr>
            <p:cNvPr id="83" name="rc83"/>
            <p:cNvSpPr/>
            <p:nvPr/>
          </p:nvSpPr>
          <p:spPr>
            <a:xfrm>
              <a:off x="8282171" y="4053983"/>
              <a:ext cx="219455" cy="2045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8310387" y="4074770"/>
              <a:ext cx="163024" cy="16302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tx85"/>
            <p:cNvSpPr/>
            <p:nvPr/>
          </p:nvSpPr>
          <p:spPr>
            <a:xfrm>
              <a:off x="8571216" y="4119889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834298" y="450589"/>
              <a:ext cx="323661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GO-BP Enrichment — C1QBP⁺ Up-regulated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381000"/>
            <a:ext cx="9144000" cy="6096000"/>
            <a:chOff x="0" y="381000"/>
            <a:chExt cx="9144000" cy="6096000"/>
          </a:xfrm>
        </p:grpSpPr>
        <p:sp>
          <p:nvSpPr>
            <p:cNvPr id="3" name="rc3"/>
            <p:cNvSpPr/>
            <p:nvPr/>
          </p:nvSpPr>
          <p:spPr>
            <a:xfrm>
              <a:off x="0" y="380999"/>
              <a:ext cx="9144000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381000"/>
              <a:ext cx="9144000" cy="609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120399" y="661361"/>
              <a:ext cx="6041973" cy="54133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120399" y="5756278"/>
              <a:ext cx="6041973" cy="0"/>
            </a:xfrm>
            <a:custGeom>
              <a:avLst/>
              <a:pathLst>
                <a:path w="6041973" h="0">
                  <a:moveTo>
                    <a:pt x="0" y="0"/>
                  </a:moveTo>
                  <a:lnTo>
                    <a:pt x="6041973" y="0"/>
                  </a:lnTo>
                  <a:lnTo>
                    <a:pt x="604197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120399" y="5225558"/>
              <a:ext cx="6041973" cy="0"/>
            </a:xfrm>
            <a:custGeom>
              <a:avLst/>
              <a:pathLst>
                <a:path w="6041973" h="0">
                  <a:moveTo>
                    <a:pt x="0" y="0"/>
                  </a:moveTo>
                  <a:lnTo>
                    <a:pt x="6041973" y="0"/>
                  </a:lnTo>
                  <a:lnTo>
                    <a:pt x="604197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20399" y="4694837"/>
              <a:ext cx="6041973" cy="0"/>
            </a:xfrm>
            <a:custGeom>
              <a:avLst/>
              <a:pathLst>
                <a:path w="6041973" h="0">
                  <a:moveTo>
                    <a:pt x="0" y="0"/>
                  </a:moveTo>
                  <a:lnTo>
                    <a:pt x="6041973" y="0"/>
                  </a:lnTo>
                  <a:lnTo>
                    <a:pt x="604197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20399" y="4164117"/>
              <a:ext cx="6041973" cy="0"/>
            </a:xfrm>
            <a:custGeom>
              <a:avLst/>
              <a:pathLst>
                <a:path w="6041973" h="0">
                  <a:moveTo>
                    <a:pt x="0" y="0"/>
                  </a:moveTo>
                  <a:lnTo>
                    <a:pt x="6041973" y="0"/>
                  </a:lnTo>
                  <a:lnTo>
                    <a:pt x="604197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120399" y="3633396"/>
              <a:ext cx="6041973" cy="0"/>
            </a:xfrm>
            <a:custGeom>
              <a:avLst/>
              <a:pathLst>
                <a:path w="6041973" h="0">
                  <a:moveTo>
                    <a:pt x="0" y="0"/>
                  </a:moveTo>
                  <a:lnTo>
                    <a:pt x="6041973" y="0"/>
                  </a:lnTo>
                  <a:lnTo>
                    <a:pt x="604197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120399" y="3102676"/>
              <a:ext cx="6041973" cy="0"/>
            </a:xfrm>
            <a:custGeom>
              <a:avLst/>
              <a:pathLst>
                <a:path w="6041973" h="0">
                  <a:moveTo>
                    <a:pt x="0" y="0"/>
                  </a:moveTo>
                  <a:lnTo>
                    <a:pt x="6041973" y="0"/>
                  </a:lnTo>
                  <a:lnTo>
                    <a:pt x="604197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120399" y="2571955"/>
              <a:ext cx="6041973" cy="0"/>
            </a:xfrm>
            <a:custGeom>
              <a:avLst/>
              <a:pathLst>
                <a:path w="6041973" h="0">
                  <a:moveTo>
                    <a:pt x="0" y="0"/>
                  </a:moveTo>
                  <a:lnTo>
                    <a:pt x="6041973" y="0"/>
                  </a:lnTo>
                  <a:lnTo>
                    <a:pt x="604197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120399" y="2041234"/>
              <a:ext cx="6041973" cy="0"/>
            </a:xfrm>
            <a:custGeom>
              <a:avLst/>
              <a:pathLst>
                <a:path w="6041973" h="0">
                  <a:moveTo>
                    <a:pt x="0" y="0"/>
                  </a:moveTo>
                  <a:lnTo>
                    <a:pt x="6041973" y="0"/>
                  </a:lnTo>
                  <a:lnTo>
                    <a:pt x="604197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120399" y="1510514"/>
              <a:ext cx="6041973" cy="0"/>
            </a:xfrm>
            <a:custGeom>
              <a:avLst/>
              <a:pathLst>
                <a:path w="6041973" h="0">
                  <a:moveTo>
                    <a:pt x="0" y="0"/>
                  </a:moveTo>
                  <a:lnTo>
                    <a:pt x="6041973" y="0"/>
                  </a:lnTo>
                  <a:lnTo>
                    <a:pt x="604197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20399" y="979793"/>
              <a:ext cx="6041973" cy="0"/>
            </a:xfrm>
            <a:custGeom>
              <a:avLst/>
              <a:pathLst>
                <a:path w="6041973" h="0">
                  <a:moveTo>
                    <a:pt x="0" y="0"/>
                  </a:moveTo>
                  <a:lnTo>
                    <a:pt x="6041973" y="0"/>
                  </a:lnTo>
                  <a:lnTo>
                    <a:pt x="6041973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74831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243254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311677" y="661361"/>
              <a:ext cx="0" cy="5413349"/>
            </a:xfrm>
            <a:custGeom>
              <a:avLst/>
              <a:pathLst>
                <a:path w="0" h="5413349">
                  <a:moveTo>
                    <a:pt x="0" y="5413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7491594" y="853338"/>
              <a:ext cx="252911" cy="252911"/>
            </a:xfrm>
            <a:prstGeom prst="ellipse">
              <a:avLst/>
            </a:prstGeom>
            <a:solidFill>
              <a:srgbClr val="5C93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7230326" y="1394951"/>
              <a:ext cx="231125" cy="231125"/>
            </a:xfrm>
            <a:prstGeom prst="ellipse">
              <a:avLst/>
            </a:prstGeom>
            <a:solidFill>
              <a:srgbClr val="1A6B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7230326" y="1925671"/>
              <a:ext cx="231125" cy="231125"/>
            </a:xfrm>
            <a:prstGeom prst="ellipse">
              <a:avLst/>
            </a:prstGeom>
            <a:solidFill>
              <a:srgbClr val="377B5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7230326" y="2456392"/>
              <a:ext cx="231125" cy="231125"/>
            </a:xfrm>
            <a:prstGeom prst="ellipse">
              <a:avLst/>
            </a:prstGeom>
            <a:solidFill>
              <a:srgbClr val="5C93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7230326" y="2987113"/>
              <a:ext cx="231125" cy="231125"/>
            </a:xfrm>
            <a:prstGeom prst="ellipse">
              <a:avLst/>
            </a:prstGeom>
            <a:solidFill>
              <a:srgbClr val="B0CF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6971086" y="3530754"/>
              <a:ext cx="205284" cy="205284"/>
            </a:xfrm>
            <a:prstGeom prst="ellipse">
              <a:avLst/>
            </a:prstGeom>
            <a:solidFill>
              <a:srgbClr val="1A6B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971086" y="4061474"/>
              <a:ext cx="205284" cy="205284"/>
            </a:xfrm>
            <a:prstGeom prst="ellipse">
              <a:avLst/>
            </a:prstGeom>
            <a:solidFill>
              <a:srgbClr val="1F6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715763" y="4609033"/>
              <a:ext cx="171607" cy="171607"/>
            </a:xfrm>
            <a:prstGeom prst="ellipse">
              <a:avLst/>
            </a:prstGeom>
            <a:solidFill>
              <a:srgbClr val="1A6B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715763" y="5139754"/>
              <a:ext cx="171607" cy="171607"/>
            </a:xfrm>
            <a:prstGeom prst="ellipse">
              <a:avLst/>
            </a:prstGeom>
            <a:solidFill>
              <a:srgbClr val="1A6B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484254" y="5711126"/>
              <a:ext cx="90303" cy="90303"/>
            </a:xfrm>
            <a:prstGeom prst="ellipse">
              <a:avLst/>
            </a:prstGeom>
            <a:solidFill>
              <a:srgbClr val="1A6B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120399" y="661361"/>
              <a:ext cx="6041973" cy="5413349"/>
            </a:xfrm>
            <a:prstGeom prst="rect">
              <a:avLst/>
            </a:prstGeom>
            <a:noFill/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946132" y="5715359"/>
              <a:ext cx="1111636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neutrophil chemotaxis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054123" y="5184638"/>
              <a:ext cx="100364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neutrophil migration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857253" y="4653918"/>
              <a:ext cx="120051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granulocyte chemotaxis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965243" y="4123197"/>
              <a:ext cx="109252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leukocyte chemotaxis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65243" y="3592477"/>
              <a:ext cx="109252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granulocyte migration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9589" y="3061756"/>
              <a:ext cx="198817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response to molecule of bacterial origin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88658" y="2531036"/>
              <a:ext cx="156911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response to lipopolysaccharide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04914" y="2000315"/>
              <a:ext cx="135285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humoral immune response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47672" y="1469594"/>
              <a:ext cx="1410096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myeloid leukocyte migration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073234" y="938874"/>
              <a:ext cx="98453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leukocyte migration</a:t>
              </a:r>
            </a:p>
          </p:txBody>
        </p:sp>
        <p:sp>
          <p:nvSpPr>
            <p:cNvPr id="40" name="pl40"/>
            <p:cNvSpPr/>
            <p:nvPr/>
          </p:nvSpPr>
          <p:spPr>
            <a:xfrm>
              <a:off x="2085604" y="57562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085604" y="522555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085604" y="46948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085604" y="41641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085604" y="36333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085604" y="31026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085604" y="25719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085604" y="20412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085604" y="15105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085604" y="97979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174831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243254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6311677" y="607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2095415" y="6137341"/>
              <a:ext cx="1588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4163838" y="6137341"/>
              <a:ext cx="1588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6232262" y="6137341"/>
              <a:ext cx="1588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4807355" y="6277931"/>
              <a:ext cx="66806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57" name="rc57"/>
            <p:cNvSpPr/>
            <p:nvPr/>
          </p:nvSpPr>
          <p:spPr>
            <a:xfrm>
              <a:off x="8301550" y="2748913"/>
              <a:ext cx="772860" cy="1238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8371139" y="2833224"/>
              <a:ext cx="48947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p.adjust</a:t>
              </a:r>
            </a:p>
          </p:txBody>
        </p:sp>
        <p:pic>
          <p:nvPicPr>
            <p:cNvPr id="59" name="pic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71139" y="3017570"/>
              <a:ext cx="219455" cy="900000"/>
            </a:xfrm>
            <a:prstGeom prst="rect">
              <a:avLst/>
            </a:prstGeom>
          </p:spPr>
        </p:pic>
        <p:sp>
          <p:nvSpPr>
            <p:cNvPr id="60" name="pl60"/>
            <p:cNvSpPr/>
            <p:nvPr/>
          </p:nvSpPr>
          <p:spPr>
            <a:xfrm>
              <a:off x="8546704" y="369329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546704" y="347049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8546704" y="324769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8546704" y="302490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371139" y="369329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371139" y="347049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371139" y="324769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371139" y="302490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8660184" y="3656904"/>
              <a:ext cx="34463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1.0e-14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660184" y="3434105"/>
              <a:ext cx="34463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2.0e-14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660184" y="3211306"/>
              <a:ext cx="34463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3.0e-14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660184" y="2988507"/>
              <a:ext cx="34463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4.0e-14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417238" y="450589"/>
              <a:ext cx="3448293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GO-BP Enrichment — C1QBP⁺ Down-regulated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381000" y="0"/>
            <a:ext cx="8382000" cy="6858000"/>
            <a:chOff x="381000" y="0"/>
            <a:chExt cx="8382000" cy="6858000"/>
          </a:xfrm>
        </p:grpSpPr>
        <p:sp>
          <p:nvSpPr>
            <p:cNvPr id="3" name="rc3"/>
            <p:cNvSpPr/>
            <p:nvPr/>
          </p:nvSpPr>
          <p:spPr>
            <a:xfrm>
              <a:off x="380999" y="0"/>
              <a:ext cx="838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80999" y="0"/>
              <a:ext cx="838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206476" y="463823"/>
              <a:ext cx="4428991" cy="59982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206476" y="6283872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206476" y="5986931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206476" y="5689990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06476" y="5393048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06476" y="5096107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06476" y="4799166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206476" y="4502224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206476" y="4205283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206476" y="3908342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206476" y="3611401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06476" y="3314459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206476" y="3017518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206476" y="2720577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206476" y="2423635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206476" y="2126694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206476" y="1829753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206476" y="1532812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206476" y="1235870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06476" y="938929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206476" y="641988"/>
              <a:ext cx="4428991" cy="0"/>
            </a:xfrm>
            <a:custGeom>
              <a:avLst/>
              <a:pathLst>
                <a:path w="4428991" h="0">
                  <a:moveTo>
                    <a:pt x="0" y="0"/>
                  </a:moveTo>
                  <a:lnTo>
                    <a:pt x="4428991" y="0"/>
                  </a:lnTo>
                  <a:lnTo>
                    <a:pt x="4428991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425299" y="463823"/>
              <a:ext cx="0" cy="5998213"/>
            </a:xfrm>
            <a:custGeom>
              <a:avLst/>
              <a:pathLst>
                <a:path w="0" h="5998213">
                  <a:moveTo>
                    <a:pt x="0" y="59982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090523" y="463823"/>
              <a:ext cx="0" cy="5998213"/>
            </a:xfrm>
            <a:custGeom>
              <a:avLst/>
              <a:pathLst>
                <a:path w="0" h="5998213">
                  <a:moveTo>
                    <a:pt x="0" y="59982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55747" y="463823"/>
              <a:ext cx="0" cy="5998213"/>
            </a:xfrm>
            <a:custGeom>
              <a:avLst/>
              <a:pathLst>
                <a:path w="0" h="5998213">
                  <a:moveTo>
                    <a:pt x="0" y="59982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0972" y="463823"/>
              <a:ext cx="0" cy="5998213"/>
            </a:xfrm>
            <a:custGeom>
              <a:avLst/>
              <a:pathLst>
                <a:path w="0" h="5998213">
                  <a:moveTo>
                    <a:pt x="0" y="59982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86196" y="463823"/>
              <a:ext cx="0" cy="5998213"/>
            </a:xfrm>
            <a:custGeom>
              <a:avLst/>
              <a:pathLst>
                <a:path w="0" h="5998213">
                  <a:moveTo>
                    <a:pt x="0" y="59982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751420" y="463823"/>
              <a:ext cx="0" cy="5998213"/>
            </a:xfrm>
            <a:custGeom>
              <a:avLst/>
              <a:pathLst>
                <a:path w="0" h="5998213">
                  <a:moveTo>
                    <a:pt x="0" y="59982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416644" y="463823"/>
              <a:ext cx="0" cy="5998213"/>
            </a:xfrm>
            <a:custGeom>
              <a:avLst/>
              <a:pathLst>
                <a:path w="0" h="5998213">
                  <a:moveTo>
                    <a:pt x="0" y="59982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420972" y="463823"/>
              <a:ext cx="0" cy="5998213"/>
            </a:xfrm>
            <a:custGeom>
              <a:avLst/>
              <a:pathLst>
                <a:path w="0" h="5998213">
                  <a:moveTo>
                    <a:pt x="0" y="59982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901981" y="3283758"/>
              <a:ext cx="61402" cy="61402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7200" cap="rnd">
              <a:solidFill>
                <a:srgbClr val="8864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5930238" y="2958217"/>
              <a:ext cx="118601" cy="118601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7200" cap="rnd">
              <a:solidFill>
                <a:srgbClr val="8864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5930238" y="2661276"/>
              <a:ext cx="118601" cy="118601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7200" cap="rnd">
              <a:solidFill>
                <a:srgbClr val="8864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5901981" y="2392934"/>
              <a:ext cx="61402" cy="61402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7200" cap="rnd">
              <a:solidFill>
                <a:srgbClr val="8864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5901981" y="2095993"/>
              <a:ext cx="61402" cy="61402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7200" cap="rnd">
              <a:solidFill>
                <a:srgbClr val="8864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6072209" y="1741852"/>
              <a:ext cx="175801" cy="175801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7200" cap="rnd">
              <a:solidFill>
                <a:srgbClr val="8864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901981" y="1502110"/>
              <a:ext cx="61402" cy="61402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7200" cap="rnd">
              <a:solidFill>
                <a:srgbClr val="7D7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975249" y="1164723"/>
              <a:ext cx="142294" cy="142294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7200" cap="rnd">
              <a:solidFill>
                <a:srgbClr val="7D7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5901981" y="908228"/>
              <a:ext cx="61402" cy="61402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7200" cap="rnd">
              <a:solidFill>
                <a:srgbClr val="7D7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122314" y="547336"/>
              <a:ext cx="189304" cy="189304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7200" cap="rnd">
              <a:solidFill>
                <a:srgbClr val="4A9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728941" y="6167372"/>
              <a:ext cx="233000" cy="233000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7200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821377" y="5875338"/>
              <a:ext cx="223186" cy="223186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7200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821377" y="5578396"/>
              <a:ext cx="223186" cy="223186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7200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914131" y="5286679"/>
              <a:ext cx="212737" cy="212737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7200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636770" y="4974966"/>
              <a:ext cx="242282" cy="242282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7200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728941" y="4682665"/>
              <a:ext cx="233000" cy="233000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7200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636770" y="4381083"/>
              <a:ext cx="242282" cy="242282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7200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636770" y="4084142"/>
              <a:ext cx="242282" cy="242282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7200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44826" y="3782786"/>
              <a:ext cx="251111" cy="251111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7200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636770" y="3490259"/>
              <a:ext cx="242282" cy="242282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7200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3735656" y="509086"/>
              <a:ext cx="95481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4DBBD5">
                      <a:alpha val="100000"/>
                    </a:srgbClr>
                  </a:solidFill>
                  <a:latin typeface="Arial"/>
                  <a:cs typeface="Arial"/>
                </a:rPr>
                <a:t>Down-regulated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6239207" y="509086"/>
              <a:ext cx="77934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E64B35">
                      <a:alpha val="100000"/>
                    </a:srgbClr>
                  </a:solidFill>
                  <a:latin typeface="Arial"/>
                  <a:cs typeface="Arial"/>
                </a:rPr>
                <a:t>Up-regulated</a:t>
              </a:r>
            </a:p>
          </p:txBody>
        </p:sp>
        <p:sp>
          <p:nvSpPr>
            <p:cNvPr id="56" name="rc56"/>
            <p:cNvSpPr/>
            <p:nvPr/>
          </p:nvSpPr>
          <p:spPr>
            <a:xfrm>
              <a:off x="3206476" y="463823"/>
              <a:ext cx="4428991" cy="5998213"/>
            </a:xfrm>
            <a:prstGeom prst="rect">
              <a:avLst/>
            </a:prstGeom>
            <a:noFill/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2051320" y="6242953"/>
              <a:ext cx="109252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granulocyte migration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943330" y="5946011"/>
              <a:ext cx="120051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granulocyte chemotaxis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140200" y="5649070"/>
              <a:ext cx="100364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neutrophil migration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032209" y="5352129"/>
              <a:ext cx="1111636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neutrophil chemotaxis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1733749" y="5055188"/>
              <a:ext cx="1410096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myeloid leukocyte migration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051320" y="4758246"/>
              <a:ext cx="109252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leukocyte chemotaxis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790991" y="4461305"/>
              <a:ext cx="135285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humoral immune response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1574735" y="4164364"/>
              <a:ext cx="156911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response to lipopolysaccharide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2159311" y="3867422"/>
              <a:ext cx="98453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leukocyte migration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55665" y="3570481"/>
              <a:ext cx="198817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response to molecule of bacterial origin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041365" y="3273540"/>
              <a:ext cx="210247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polymerization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1104916" y="2976599"/>
              <a:ext cx="203892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polymerization or depolymerization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365246" y="2679657"/>
              <a:ext cx="177859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protein polymerization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44262" y="2382716"/>
              <a:ext cx="269958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polymerization or depolymerization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1466836" y="2085775"/>
              <a:ext cx="167700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length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93563" y="1788833"/>
              <a:ext cx="23502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supramolecular fiber organization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1702019" y="1491892"/>
              <a:ext cx="144182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polymerization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1155574" y="1194951"/>
              <a:ext cx="198827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organization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933101" y="898010"/>
              <a:ext cx="221074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positive regulation of endopeptidase activity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1231652" y="601068"/>
              <a:ext cx="191219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ribonucleoprotein complex biogenesis</a:t>
              </a:r>
            </a:p>
          </p:txBody>
        </p:sp>
        <p:sp>
          <p:nvSpPr>
            <p:cNvPr id="77" name="pl77"/>
            <p:cNvSpPr/>
            <p:nvPr/>
          </p:nvSpPr>
          <p:spPr>
            <a:xfrm>
              <a:off x="3171681" y="62838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171681" y="59869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171681" y="56899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171681" y="53930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71681" y="50961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71681" y="47991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171681" y="45022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171681" y="42052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171681" y="39083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171681" y="36114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171681" y="33144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171681" y="30175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171681" y="27205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171681" y="24236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171681" y="21266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171681" y="18297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171681" y="15328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3171681" y="12358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3171681" y="9389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171681" y="6419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425299" y="64620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090523" y="64620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755747" y="64620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420972" y="64620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6086196" y="64620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751420" y="64620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7416644" y="64620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tx104"/>
            <p:cNvSpPr/>
            <p:nvPr/>
          </p:nvSpPr>
          <p:spPr>
            <a:xfrm>
              <a:off x="3345884" y="6524667"/>
              <a:ext cx="1588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011108" y="6524667"/>
              <a:ext cx="1588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4676332" y="6524667"/>
              <a:ext cx="1588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5389196" y="6524667"/>
              <a:ext cx="6355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6006780" y="6524667"/>
              <a:ext cx="1588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6672004" y="6524667"/>
              <a:ext cx="1588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7337228" y="6524667"/>
              <a:ext cx="1588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5086941" y="6665258"/>
              <a:ext cx="66806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112" name="rc112"/>
            <p:cNvSpPr/>
            <p:nvPr/>
          </p:nvSpPr>
          <p:spPr>
            <a:xfrm>
              <a:off x="7774646" y="1967325"/>
              <a:ext cx="772860" cy="1238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tx113"/>
            <p:cNvSpPr/>
            <p:nvPr/>
          </p:nvSpPr>
          <p:spPr>
            <a:xfrm>
              <a:off x="7844235" y="2051636"/>
              <a:ext cx="48947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p.adjust</a:t>
              </a:r>
            </a:p>
          </p:txBody>
        </p:sp>
        <p:pic>
          <p:nvPicPr>
            <p:cNvPr id="114" name="pic1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44235" y="2235983"/>
              <a:ext cx="219455" cy="900000"/>
            </a:xfrm>
            <a:prstGeom prst="rect">
              <a:avLst/>
            </a:prstGeom>
          </p:spPr>
        </p:pic>
        <p:sp>
          <p:nvSpPr>
            <p:cNvPr id="115" name="pl115"/>
            <p:cNvSpPr/>
            <p:nvPr/>
          </p:nvSpPr>
          <p:spPr>
            <a:xfrm>
              <a:off x="8019799" y="293606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8019799" y="273763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8019799" y="253921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8019799" y="234079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7844235" y="293606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7844235" y="273763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7844235" y="253921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7844235" y="234079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tx123"/>
            <p:cNvSpPr/>
            <p:nvPr/>
          </p:nvSpPr>
          <p:spPr>
            <a:xfrm>
              <a:off x="8133280" y="2899668"/>
              <a:ext cx="34463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1.0e-04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8133280" y="2701246"/>
              <a:ext cx="34463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2.0e-04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8133280" y="2502824"/>
              <a:ext cx="34463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3.0e-04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8133280" y="2304403"/>
              <a:ext cx="34463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4.0e-04</a:t>
              </a:r>
            </a:p>
          </p:txBody>
        </p:sp>
        <p:sp>
          <p:nvSpPr>
            <p:cNvPr id="127" name="rc127"/>
            <p:cNvSpPr/>
            <p:nvPr/>
          </p:nvSpPr>
          <p:spPr>
            <a:xfrm>
              <a:off x="7774646" y="3344750"/>
              <a:ext cx="690469" cy="698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tx128"/>
            <p:cNvSpPr/>
            <p:nvPr/>
          </p:nvSpPr>
          <p:spPr>
            <a:xfrm>
              <a:off x="7844235" y="3429061"/>
              <a:ext cx="55129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Direction</a:t>
              </a:r>
            </a:p>
          </p:txBody>
        </p:sp>
        <p:sp>
          <p:nvSpPr>
            <p:cNvPr id="129" name="rc129"/>
            <p:cNvSpPr/>
            <p:nvPr/>
          </p:nvSpPr>
          <p:spPr>
            <a:xfrm>
              <a:off x="7844235" y="3613407"/>
              <a:ext cx="219455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7896160" y="3645604"/>
              <a:ext cx="115605" cy="115605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7844235" y="3793407"/>
              <a:ext cx="219455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7896160" y="3825604"/>
              <a:ext cx="115605" cy="115605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tx133"/>
            <p:cNvSpPr/>
            <p:nvPr/>
          </p:nvSpPr>
          <p:spPr>
            <a:xfrm>
              <a:off x="8133280" y="3667014"/>
              <a:ext cx="25968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Down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8133280" y="3847014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Up</a:t>
              </a:r>
            </a:p>
          </p:txBody>
        </p:sp>
        <p:sp>
          <p:nvSpPr>
            <p:cNvPr id="135" name="rc135"/>
            <p:cNvSpPr/>
            <p:nvPr/>
          </p:nvSpPr>
          <p:spPr>
            <a:xfrm>
              <a:off x="7774646" y="4182174"/>
              <a:ext cx="861828" cy="776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tx136"/>
            <p:cNvSpPr/>
            <p:nvPr/>
          </p:nvSpPr>
          <p:spPr>
            <a:xfrm>
              <a:off x="7844235" y="4266485"/>
              <a:ext cx="72265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count</a:t>
              </a:r>
            </a:p>
          </p:txBody>
        </p:sp>
        <p:sp>
          <p:nvSpPr>
            <p:cNvPr id="137" name="rc137"/>
            <p:cNvSpPr/>
            <p:nvPr/>
          </p:nvSpPr>
          <p:spPr>
            <a:xfrm>
              <a:off x="7844235" y="4450831"/>
              <a:ext cx="258114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7913991" y="4481530"/>
              <a:ext cx="118601" cy="118601"/>
            </a:xfrm>
            <a:prstGeom prst="ellipse">
              <a:avLst/>
            </a:prstGeom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7844235" y="4630831"/>
              <a:ext cx="258114" cy="2581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7872536" y="4659132"/>
              <a:ext cx="201511" cy="201511"/>
            </a:xfrm>
            <a:prstGeom prst="ellipse">
              <a:avLst/>
            </a:prstGeom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tx141"/>
            <p:cNvSpPr/>
            <p:nvPr/>
          </p:nvSpPr>
          <p:spPr>
            <a:xfrm>
              <a:off x="8171938" y="4504438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8171938" y="4723495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3908508" y="253051"/>
              <a:ext cx="302492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GO-BP Enrichment: C1QBP⁺ Up vs Down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2026-06-02T23:41:40Z</dcterms:modified>
  <cp:category/>
</cp:coreProperties>
</file>